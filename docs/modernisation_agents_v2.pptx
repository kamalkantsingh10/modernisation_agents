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548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Squad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01168" y="4206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 ·  5 pipeline stages  ·  Analyst in the expert seat at every gate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0" y="676656"/>
            <a:ext cx="91440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" y="6949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pPr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 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69264" y="676656"/>
            <a:ext cx="2944368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69494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Phases 1–3  ·  Viper + Crane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68496" y="676656"/>
            <a:ext cx="155448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032504" y="6949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pPr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Phases 4–6  ·  Shifu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77840" y="676656"/>
            <a:ext cx="155448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641848" y="6949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pPr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Phases 7–8  ·  Oogway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87184" y="676656"/>
            <a:ext cx="1956816" cy="2560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7251192" y="694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pPr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Phases 9–10  ·  Po + Tai Lung + Tigress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41832" y="722376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41064" y="722376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0408" y="722376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59752" y="722376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987552"/>
            <a:ext cx="9144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0" y="987552"/>
            <a:ext cx="914400" cy="3108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10241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11521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5720" y="1408176"/>
            <a:ext cx="822960" cy="758952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" y="1481328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" y="1481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" y="176479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6576" y="19110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GitLab paths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>
            <a:off x="45720" y="2276856"/>
            <a:ext cx="822960" cy="758952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" y="2350008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" y="2350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" y="263347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Schema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576" y="27797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specdb-mcp creates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spec tables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45720" y="3145536"/>
            <a:ext cx="822960" cy="758952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" y="3218688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" y="350215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Macros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576" y="364845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macro library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45720" y="4014216"/>
            <a:ext cx="822960" cy="758952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" y="4087368"/>
            <a:ext cx="237744" cy="23774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283464" y="4087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" y="437083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576" y="45171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COBOL fields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business terms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969264" y="987552"/>
            <a:ext cx="14447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69264" y="987552"/>
            <a:ext cx="1444752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1042416" y="10332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0" y="10515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0" y="10515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1042416" y="1325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Structural Analyst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42416" y="1490472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1042416" y="1517904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1042416" y="1655064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0704" y="1700784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1060704" y="17007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1243584" y="168249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COBOL — call graph + paragraph map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691640" y="1901952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2416" y="1993392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0704" y="2039112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" y="20391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1243584" y="2020824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complexity: Low / Medium / High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1691640" y="2240280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2416" y="2331720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0704" y="2377440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1060704" y="237744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1243584" y="2359152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anti-patterns: GOTOs, ALTERs, REDEFINES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1691640" y="2578608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2416" y="2670048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0704" y="271576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7" name="Text 65"/>
          <p:cNvSpPr/>
          <p:nvPr/>
        </p:nvSpPr>
        <p:spPr>
          <a:xfrm>
            <a:off x="1060704" y="27157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1243584" y="269748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Delta macros via delta-macros-mcp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1691640" y="2916936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2416" y="3008376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0704" y="3054096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1060704" y="30540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1243584" y="3035808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unknown constructs — never silently ignored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1042416" y="3291840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73"/>
          <p:cNvSpPr/>
          <p:nvPr/>
        </p:nvSpPr>
        <p:spPr>
          <a:xfrm>
            <a:off x="1042416" y="332841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1042416" y="34564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.cbl modules + copybooks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1042416" y="3712464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1042416" y="3749040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550" dirty="0"/>
          </a:p>
        </p:txBody>
      </p:sp>
      <p:sp>
        <p:nvSpPr>
          <p:cNvPr id="79" name="Text 77"/>
          <p:cNvSpPr/>
          <p:nvPr/>
        </p:nvSpPr>
        <p:spPr>
          <a:xfrm>
            <a:off x="1042416" y="387705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 + complexity report in specdb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1042416" y="4187952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79"/>
          <p:cNvSpPr/>
          <p:nvPr/>
        </p:nvSpPr>
        <p:spPr>
          <a:xfrm>
            <a:off x="1042416" y="4224528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1042416" y="435254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cobol-parser-mcp  ·  specdb-mcp  ·  delta-macros-mcp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2468880" y="987552"/>
            <a:ext cx="14447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2468880" y="987552"/>
            <a:ext cx="1444752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5" name="Text 83"/>
          <p:cNvSpPr/>
          <p:nvPr/>
        </p:nvSpPr>
        <p:spPr>
          <a:xfrm>
            <a:off x="2542032" y="10332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328416" y="10515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/>
        </p:spPr>
      </p:sp>
      <p:sp>
        <p:nvSpPr>
          <p:cNvPr id="87" name="Text 85"/>
          <p:cNvSpPr/>
          <p:nvPr/>
        </p:nvSpPr>
        <p:spPr>
          <a:xfrm>
            <a:off x="3328416" y="10515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2542032" y="132588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Dependency Mapper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542032" y="1490472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2542032" y="1517904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2542032" y="1655064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60320" y="1700784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3" name="Text 91"/>
          <p:cNvSpPr/>
          <p:nvPr/>
        </p:nvSpPr>
        <p:spPr>
          <a:xfrm>
            <a:off x="2560320" y="17007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2743200" y="168249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Viper static dependency tables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3191256" y="1901952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542032" y="1993392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60320" y="2039112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8" name="Text 96"/>
          <p:cNvSpPr/>
          <p:nvPr/>
        </p:nvSpPr>
        <p:spPr>
          <a:xfrm>
            <a:off x="2560320" y="20391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2743200" y="2020824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JCL job step sequences (runtime)</a:t>
            </a:r>
            <a:endParaRPr lang="en-US" sz="680" dirty="0"/>
          </a:p>
        </p:txBody>
      </p:sp>
      <p:sp>
        <p:nvSpPr>
          <p:cNvPr id="100" name="Shape 98"/>
          <p:cNvSpPr/>
          <p:nvPr/>
        </p:nvSpPr>
        <p:spPr>
          <a:xfrm>
            <a:off x="3191256" y="2240280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542032" y="2331720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560320" y="2377440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3" name="Text 101"/>
          <p:cNvSpPr/>
          <p:nvPr/>
        </p:nvSpPr>
        <p:spPr>
          <a:xfrm>
            <a:off x="2560320" y="237744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50" dirty="0"/>
          </a:p>
        </p:txBody>
      </p:sp>
      <p:sp>
        <p:nvSpPr>
          <p:cNvPr id="104" name="Text 102"/>
          <p:cNvSpPr/>
          <p:nvPr/>
        </p:nvSpPr>
        <p:spPr>
          <a:xfrm>
            <a:off x="2743200" y="2359152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static + runtime into full dep. graph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3191256" y="2578608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542032" y="2670048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60320" y="271576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8" name="Text 106"/>
          <p:cNvSpPr/>
          <p:nvPr/>
        </p:nvSpPr>
        <p:spPr>
          <a:xfrm>
            <a:off x="2560320" y="27157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50" dirty="0"/>
          </a:p>
        </p:txBody>
      </p:sp>
      <p:sp>
        <p:nvSpPr>
          <p:cNvPr id="109" name="Text 107"/>
          <p:cNvSpPr/>
          <p:nvPr/>
        </p:nvSpPr>
        <p:spPr>
          <a:xfrm>
            <a:off x="2743200" y="269748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circular dependencies + dead code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>
            <a:off x="3191256" y="2916936"/>
            <a:ext cx="0" cy="9144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42032" y="3008376"/>
            <a:ext cx="1298448" cy="246888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560320" y="3054096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3" name="Text 111"/>
          <p:cNvSpPr/>
          <p:nvPr/>
        </p:nvSpPr>
        <p:spPr>
          <a:xfrm>
            <a:off x="2560320" y="30540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50" dirty="0"/>
          </a:p>
        </p:txBody>
      </p:sp>
      <p:sp>
        <p:nvSpPr>
          <p:cNvPr id="114" name="Text 112"/>
          <p:cNvSpPr/>
          <p:nvPr/>
        </p:nvSpPr>
        <p:spPr>
          <a:xfrm>
            <a:off x="2743200" y="3035808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topological migration order</a:t>
            </a:r>
            <a:endParaRPr lang="en-US" sz="680" dirty="0"/>
          </a:p>
        </p:txBody>
      </p:sp>
      <p:sp>
        <p:nvSpPr>
          <p:cNvPr id="115" name="Shape 113"/>
          <p:cNvSpPr/>
          <p:nvPr/>
        </p:nvSpPr>
        <p:spPr>
          <a:xfrm>
            <a:off x="2542032" y="3291840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6" name="Text 114"/>
          <p:cNvSpPr/>
          <p:nvPr/>
        </p:nvSpPr>
        <p:spPr>
          <a:xfrm>
            <a:off x="2542032" y="332841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</a:t>
            </a:r>
            <a:endParaRPr lang="en-US" sz="550" dirty="0"/>
          </a:p>
        </p:txBody>
      </p:sp>
      <p:sp>
        <p:nvSpPr>
          <p:cNvPr id="117" name="Text 115"/>
          <p:cNvSpPr/>
          <p:nvPr/>
        </p:nvSpPr>
        <p:spPr>
          <a:xfrm>
            <a:off x="2542032" y="345643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 outputs + JCL step data in specdb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2542032" y="3712464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9" name="Text 117"/>
          <p:cNvSpPr/>
          <p:nvPr/>
        </p:nvSpPr>
        <p:spPr>
          <a:xfrm>
            <a:off x="2542032" y="3749040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550" dirty="0"/>
          </a:p>
        </p:txBody>
      </p:sp>
      <p:sp>
        <p:nvSpPr>
          <p:cNvPr id="120" name="Text 118"/>
          <p:cNvSpPr/>
          <p:nvPr/>
        </p:nvSpPr>
        <p:spPr>
          <a:xfrm>
            <a:off x="2542032" y="387705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dep. graph + migration order in specdb</a:t>
            </a:r>
            <a:endParaRPr lang="en-US" sz="680" dirty="0"/>
          </a:p>
        </p:txBody>
      </p:sp>
      <p:sp>
        <p:nvSpPr>
          <p:cNvPr id="121" name="Shape 119"/>
          <p:cNvSpPr/>
          <p:nvPr/>
        </p:nvSpPr>
        <p:spPr>
          <a:xfrm>
            <a:off x="2542032" y="4187952"/>
            <a:ext cx="1298448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2" name="Text 120"/>
          <p:cNvSpPr/>
          <p:nvPr/>
        </p:nvSpPr>
        <p:spPr>
          <a:xfrm>
            <a:off x="2542032" y="4224528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550" dirty="0"/>
          </a:p>
        </p:txBody>
      </p:sp>
      <p:sp>
        <p:nvSpPr>
          <p:cNvPr id="123" name="Text 121"/>
          <p:cNvSpPr/>
          <p:nvPr/>
        </p:nvSpPr>
        <p:spPr>
          <a:xfrm>
            <a:off x="2542032" y="435254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specdb-mcp  ·  cobol-parser-mcp</a:t>
            </a:r>
            <a:endParaRPr lang="en-US" sz="680" dirty="0"/>
          </a:p>
        </p:txBody>
      </p:sp>
      <p:sp>
        <p:nvSpPr>
          <p:cNvPr id="124" name="Shape 122"/>
          <p:cNvSpPr/>
          <p:nvPr/>
        </p:nvSpPr>
        <p:spPr>
          <a:xfrm>
            <a:off x="3968496" y="987552"/>
            <a:ext cx="155448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3968496" y="987552"/>
            <a:ext cx="155448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6" name="Text 124"/>
          <p:cNvSpPr/>
          <p:nvPr/>
        </p:nvSpPr>
        <p:spPr>
          <a:xfrm>
            <a:off x="4041648" y="10332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4937760" y="10515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/>
        </p:spPr>
      </p:sp>
      <p:sp>
        <p:nvSpPr>
          <p:cNvPr id="128" name="Text 126"/>
          <p:cNvSpPr/>
          <p:nvPr/>
        </p:nvSpPr>
        <p:spPr>
          <a:xfrm>
            <a:off x="4937760" y="10515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550" dirty="0"/>
          </a:p>
        </p:txBody>
      </p:sp>
      <p:sp>
        <p:nvSpPr>
          <p:cNvPr id="129" name="Text 127"/>
          <p:cNvSpPr/>
          <p:nvPr/>
        </p:nvSpPr>
        <p:spPr>
          <a:xfrm>
            <a:off x="4041648" y="132588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Extractor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4041648" y="1490472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1" name="Text 129"/>
          <p:cNvSpPr/>
          <p:nvPr/>
        </p:nvSpPr>
        <p:spPr>
          <a:xfrm>
            <a:off x="4041648" y="1517904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550" dirty="0"/>
          </a:p>
        </p:txBody>
      </p:sp>
      <p:sp>
        <p:nvSpPr>
          <p:cNvPr id="132" name="Shape 130"/>
          <p:cNvSpPr/>
          <p:nvPr/>
        </p:nvSpPr>
        <p:spPr>
          <a:xfrm>
            <a:off x="4041648" y="1655064"/>
            <a:ext cx="1408176" cy="24688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059936" y="1700784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4" name="Text 132"/>
          <p:cNvSpPr/>
          <p:nvPr/>
        </p:nvSpPr>
        <p:spPr>
          <a:xfrm>
            <a:off x="4059936" y="17007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50" dirty="0"/>
          </a:p>
        </p:txBody>
      </p:sp>
      <p:sp>
        <p:nvSpPr>
          <p:cNvPr id="135" name="Text 133"/>
          <p:cNvSpPr/>
          <p:nvPr/>
        </p:nvSpPr>
        <p:spPr>
          <a:xfrm>
            <a:off x="4242816" y="1682496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business rules per module paragraph</a:t>
            </a:r>
            <a:endParaRPr lang="en-US" sz="680" dirty="0"/>
          </a:p>
        </p:txBody>
      </p:sp>
      <p:sp>
        <p:nvSpPr>
          <p:cNvPr id="136" name="Shape 134"/>
          <p:cNvSpPr/>
          <p:nvPr/>
        </p:nvSpPr>
        <p:spPr>
          <a:xfrm>
            <a:off x="4745736" y="1901952"/>
            <a:ext cx="0" cy="9144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041648" y="1993392"/>
            <a:ext cx="1408176" cy="24688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059936" y="2039112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9" name="Text 137"/>
          <p:cNvSpPr/>
          <p:nvPr/>
        </p:nvSpPr>
        <p:spPr>
          <a:xfrm>
            <a:off x="4059936" y="20391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50" dirty="0"/>
          </a:p>
        </p:txBody>
      </p:sp>
      <p:sp>
        <p:nvSpPr>
          <p:cNvPr id="140" name="Text 138"/>
          <p:cNvSpPr/>
          <p:nvPr/>
        </p:nvSpPr>
        <p:spPr>
          <a:xfrm>
            <a:off x="4242816" y="20208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Delta macros inline into rule text</a:t>
            </a:r>
            <a:endParaRPr lang="en-US" sz="680" dirty="0"/>
          </a:p>
        </p:txBody>
      </p:sp>
      <p:sp>
        <p:nvSpPr>
          <p:cNvPr id="141" name="Shape 139"/>
          <p:cNvSpPr/>
          <p:nvPr/>
        </p:nvSpPr>
        <p:spPr>
          <a:xfrm>
            <a:off x="4745736" y="2240280"/>
            <a:ext cx="0" cy="9144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041648" y="2331720"/>
            <a:ext cx="1408176" cy="24688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059936" y="2377440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4" name="Text 142"/>
          <p:cNvSpPr/>
          <p:nvPr/>
        </p:nvSpPr>
        <p:spPr>
          <a:xfrm>
            <a:off x="4059936" y="237744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50" dirty="0"/>
          </a:p>
        </p:txBody>
      </p:sp>
      <p:sp>
        <p:nvSpPr>
          <p:cNvPr id="145" name="Text 143"/>
          <p:cNvSpPr/>
          <p:nvPr/>
        </p:nvSpPr>
        <p:spPr>
          <a:xfrm>
            <a:off x="4242816" y="2359152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confidence 0.0–1.0 per rule/operation</a:t>
            </a:r>
            <a:endParaRPr lang="en-US" sz="680" dirty="0"/>
          </a:p>
        </p:txBody>
      </p:sp>
      <p:sp>
        <p:nvSpPr>
          <p:cNvPr id="146" name="Shape 144"/>
          <p:cNvSpPr/>
          <p:nvPr/>
        </p:nvSpPr>
        <p:spPr>
          <a:xfrm>
            <a:off x="4745736" y="2578608"/>
            <a:ext cx="0" cy="9144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041648" y="2670048"/>
            <a:ext cx="1408176" cy="24688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059936" y="2715768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9" name="Text 147"/>
          <p:cNvSpPr/>
          <p:nvPr/>
        </p:nvSpPr>
        <p:spPr>
          <a:xfrm>
            <a:off x="4059936" y="27157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50" dirty="0"/>
          </a:p>
        </p:txBody>
      </p:sp>
      <p:sp>
        <p:nvSpPr>
          <p:cNvPr id="150" name="Text 148"/>
          <p:cNvSpPr/>
          <p:nvPr/>
        </p:nvSpPr>
        <p:spPr>
          <a:xfrm>
            <a:off x="4242816" y="2697480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modules into named business capabilities</a:t>
            </a:r>
            <a:endParaRPr lang="en-US" sz="680" dirty="0"/>
          </a:p>
        </p:txBody>
      </p:sp>
      <p:sp>
        <p:nvSpPr>
          <p:cNvPr id="151" name="Shape 149"/>
          <p:cNvSpPr/>
          <p:nvPr/>
        </p:nvSpPr>
        <p:spPr>
          <a:xfrm>
            <a:off x="4745736" y="2916936"/>
            <a:ext cx="0" cy="91440"/>
          </a:xfrm>
          <a:prstGeom prst="line">
            <a:avLst/>
          </a:prstGeom>
          <a:noFill/>
          <a:ln w="9525">
            <a:solidFill>
              <a:srgbClr val="0891B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041648" y="3008376"/>
            <a:ext cx="1408176" cy="24688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059936" y="3054096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4" name="Text 152"/>
          <p:cNvSpPr/>
          <p:nvPr/>
        </p:nvSpPr>
        <p:spPr>
          <a:xfrm>
            <a:off x="4059936" y="30540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50" dirty="0"/>
          </a:p>
        </p:txBody>
      </p:sp>
      <p:sp>
        <p:nvSpPr>
          <p:cNvPr id="155" name="Text 153"/>
          <p:cNvSpPr/>
          <p:nvPr/>
        </p:nvSpPr>
        <p:spPr>
          <a:xfrm>
            <a:off x="4242816" y="3035808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Agent [AQ]: NL queries across spec layer</a:t>
            </a:r>
            <a:endParaRPr lang="en-US" sz="680" dirty="0"/>
          </a:p>
        </p:txBody>
      </p:sp>
      <p:sp>
        <p:nvSpPr>
          <p:cNvPr id="156" name="Shape 154"/>
          <p:cNvSpPr/>
          <p:nvPr/>
        </p:nvSpPr>
        <p:spPr>
          <a:xfrm>
            <a:off x="4041648" y="3291840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7" name="Text 155"/>
          <p:cNvSpPr/>
          <p:nvPr/>
        </p:nvSpPr>
        <p:spPr>
          <a:xfrm>
            <a:off x="4041648" y="3328416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</a:t>
            </a:r>
            <a:endParaRPr lang="en-US" sz="550" dirty="0"/>
          </a:p>
        </p:txBody>
      </p:sp>
      <p:sp>
        <p:nvSpPr>
          <p:cNvPr id="158" name="Text 156"/>
          <p:cNvSpPr/>
          <p:nvPr/>
        </p:nvSpPr>
        <p:spPr>
          <a:xfrm>
            <a:off x="4041648" y="345643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 + Crane outputs in specdb</a:t>
            </a:r>
            <a:endParaRPr lang="en-US" sz="680" dirty="0"/>
          </a:p>
        </p:txBody>
      </p:sp>
      <p:sp>
        <p:nvSpPr>
          <p:cNvPr id="159" name="Shape 157"/>
          <p:cNvSpPr/>
          <p:nvPr/>
        </p:nvSpPr>
        <p:spPr>
          <a:xfrm>
            <a:off x="4041648" y="3712464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0" name="Text 158"/>
          <p:cNvSpPr/>
          <p:nvPr/>
        </p:nvSpPr>
        <p:spPr>
          <a:xfrm>
            <a:off x="4041648" y="3749040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550" dirty="0"/>
          </a:p>
        </p:txBody>
      </p:sp>
      <p:sp>
        <p:nvSpPr>
          <p:cNvPr id="161" name="Text 159"/>
          <p:cNvSpPr/>
          <p:nvPr/>
        </p:nvSpPr>
        <p:spPr>
          <a:xfrm>
            <a:off x="4041648" y="38770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spec layer + business function catalogue</a:t>
            </a:r>
            <a:endParaRPr lang="en-US" sz="680" dirty="0"/>
          </a:p>
        </p:txBody>
      </p:sp>
      <p:sp>
        <p:nvSpPr>
          <p:cNvPr id="162" name="Shape 160"/>
          <p:cNvSpPr/>
          <p:nvPr/>
        </p:nvSpPr>
        <p:spPr>
          <a:xfrm>
            <a:off x="4041648" y="4187952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3" name="Text 161"/>
          <p:cNvSpPr/>
          <p:nvPr/>
        </p:nvSpPr>
        <p:spPr>
          <a:xfrm>
            <a:off x="4041648" y="4224528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550" dirty="0"/>
          </a:p>
        </p:txBody>
      </p:sp>
      <p:sp>
        <p:nvSpPr>
          <p:cNvPr id="164" name="Text 162"/>
          <p:cNvSpPr/>
          <p:nvPr/>
        </p:nvSpPr>
        <p:spPr>
          <a:xfrm>
            <a:off x="4041648" y="43525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specdb-mcp  ·  delta-macros-mcp</a:t>
            </a:r>
            <a:endParaRPr lang="en-US" sz="680" dirty="0"/>
          </a:p>
        </p:txBody>
      </p:sp>
      <p:sp>
        <p:nvSpPr>
          <p:cNvPr id="165" name="Shape 163"/>
          <p:cNvSpPr/>
          <p:nvPr/>
        </p:nvSpPr>
        <p:spPr>
          <a:xfrm>
            <a:off x="5577840" y="987552"/>
            <a:ext cx="155448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66" name="Shape 164"/>
          <p:cNvSpPr/>
          <p:nvPr/>
        </p:nvSpPr>
        <p:spPr>
          <a:xfrm>
            <a:off x="5577840" y="987552"/>
            <a:ext cx="1554480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7" name="Text 165"/>
          <p:cNvSpPr/>
          <p:nvPr/>
        </p:nvSpPr>
        <p:spPr>
          <a:xfrm>
            <a:off x="5650992" y="10332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OOGWAY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6547104" y="10515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69" name="Text 167"/>
          <p:cNvSpPr/>
          <p:nvPr/>
        </p:nvSpPr>
        <p:spPr>
          <a:xfrm>
            <a:off x="6547104" y="10515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550" dirty="0"/>
          </a:p>
        </p:txBody>
      </p:sp>
      <p:sp>
        <p:nvSpPr>
          <p:cNvPr id="170" name="Text 168"/>
          <p:cNvSpPr/>
          <p:nvPr/>
        </p:nvSpPr>
        <p:spPr>
          <a:xfrm>
            <a:off x="5650992" y="132588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Architect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5650992" y="1490472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2" name="Text 170"/>
          <p:cNvSpPr/>
          <p:nvPr/>
        </p:nvSpPr>
        <p:spPr>
          <a:xfrm>
            <a:off x="5650992" y="1517904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550" dirty="0"/>
          </a:p>
        </p:txBody>
      </p:sp>
      <p:sp>
        <p:nvSpPr>
          <p:cNvPr id="173" name="Shape 171"/>
          <p:cNvSpPr/>
          <p:nvPr/>
        </p:nvSpPr>
        <p:spPr>
          <a:xfrm>
            <a:off x="5650992" y="1655064"/>
            <a:ext cx="1408176" cy="246888"/>
          </a:xfrm>
          <a:prstGeom prst="rect">
            <a:avLst/>
          </a:prstGeom>
          <a:solidFill>
            <a:srgbClr val="DCFCE7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69280" y="1700784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5" name="Text 173"/>
          <p:cNvSpPr/>
          <p:nvPr/>
        </p:nvSpPr>
        <p:spPr>
          <a:xfrm>
            <a:off x="5669280" y="170078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50" dirty="0"/>
          </a:p>
        </p:txBody>
      </p:sp>
      <p:sp>
        <p:nvSpPr>
          <p:cNvPr id="176" name="Text 174"/>
          <p:cNvSpPr/>
          <p:nvPr/>
        </p:nvSpPr>
        <p:spPr>
          <a:xfrm>
            <a:off x="5852160" y="1682496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business function catalogue from spec layer</a:t>
            </a:r>
            <a:endParaRPr lang="en-US" sz="680" dirty="0"/>
          </a:p>
        </p:txBody>
      </p:sp>
      <p:sp>
        <p:nvSpPr>
          <p:cNvPr id="177" name="Shape 175"/>
          <p:cNvSpPr/>
          <p:nvPr/>
        </p:nvSpPr>
        <p:spPr>
          <a:xfrm>
            <a:off x="6355080" y="1901952"/>
            <a:ext cx="0" cy="91440"/>
          </a:xfrm>
          <a:prstGeom prst="line">
            <a:avLst/>
          </a:prstGeom>
          <a:noFill/>
          <a:ln w="9525">
            <a:solidFill>
              <a:srgbClr val="05966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650992" y="1993392"/>
            <a:ext cx="1408176" cy="246888"/>
          </a:xfrm>
          <a:prstGeom prst="rect">
            <a:avLst/>
          </a:prstGeom>
          <a:solidFill>
            <a:srgbClr val="DCFCE7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669280" y="2039112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0" name="Text 178"/>
          <p:cNvSpPr/>
          <p:nvPr/>
        </p:nvSpPr>
        <p:spPr>
          <a:xfrm>
            <a:off x="5669280" y="203911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50" dirty="0"/>
          </a:p>
        </p:txBody>
      </p:sp>
      <p:sp>
        <p:nvSpPr>
          <p:cNvPr id="181" name="Text 179"/>
          <p:cNvSpPr/>
          <p:nvPr/>
        </p:nvSpPr>
        <p:spPr>
          <a:xfrm>
            <a:off x="5852160" y="2020824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boundaries per business capability</a:t>
            </a:r>
            <a:endParaRPr lang="en-US" sz="680" dirty="0"/>
          </a:p>
        </p:txBody>
      </p:sp>
      <p:sp>
        <p:nvSpPr>
          <p:cNvPr id="182" name="Shape 180"/>
          <p:cNvSpPr/>
          <p:nvPr/>
        </p:nvSpPr>
        <p:spPr>
          <a:xfrm>
            <a:off x="6355080" y="2240280"/>
            <a:ext cx="0" cy="91440"/>
          </a:xfrm>
          <a:prstGeom prst="line">
            <a:avLst/>
          </a:prstGeom>
          <a:noFill/>
          <a:ln w="9525">
            <a:solidFill>
              <a:srgbClr val="05966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650992" y="2331720"/>
            <a:ext cx="1408176" cy="246888"/>
          </a:xfrm>
          <a:prstGeom prst="rect">
            <a:avLst/>
          </a:prstGeom>
          <a:solidFill>
            <a:srgbClr val="DCFCE7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669280" y="2377440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5" name="Text 183"/>
          <p:cNvSpPr/>
          <p:nvPr/>
        </p:nvSpPr>
        <p:spPr>
          <a:xfrm>
            <a:off x="5669280" y="237744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50" dirty="0"/>
          </a:p>
        </p:txBody>
      </p:sp>
      <p:sp>
        <p:nvSpPr>
          <p:cNvPr id="186" name="Text 184"/>
          <p:cNvSpPr/>
          <p:nvPr/>
        </p:nvSpPr>
        <p:spPr>
          <a:xfrm>
            <a:off x="5852160" y="2359152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API contracts + target data model</a:t>
            </a:r>
            <a:endParaRPr lang="en-US" sz="680" dirty="0"/>
          </a:p>
        </p:txBody>
      </p:sp>
      <p:sp>
        <p:nvSpPr>
          <p:cNvPr id="187" name="Shape 185"/>
          <p:cNvSpPr/>
          <p:nvPr/>
        </p:nvSpPr>
        <p:spPr>
          <a:xfrm>
            <a:off x="6355080" y="2578608"/>
            <a:ext cx="0" cy="91440"/>
          </a:xfrm>
          <a:prstGeom prst="line">
            <a:avLst/>
          </a:prstGeom>
          <a:noFill/>
          <a:ln w="9525">
            <a:solidFill>
              <a:srgbClr val="05966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650992" y="2670048"/>
            <a:ext cx="1408176" cy="246888"/>
          </a:xfrm>
          <a:prstGeom prst="rect">
            <a:avLst/>
          </a:prstGeom>
          <a:solidFill>
            <a:srgbClr val="DCFCE7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669280" y="2715768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0" name="Text 188"/>
          <p:cNvSpPr/>
          <p:nvPr/>
        </p:nvSpPr>
        <p:spPr>
          <a:xfrm>
            <a:off x="5669280" y="27157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50" dirty="0"/>
          </a:p>
        </p:txBody>
      </p:sp>
      <p:sp>
        <p:nvSpPr>
          <p:cNvPr id="191" name="Text 189"/>
          <p:cNvSpPr/>
          <p:nvPr/>
        </p:nvSpPr>
        <p:spPr>
          <a:xfrm>
            <a:off x="5852160" y="2697480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low-confidence areas — block if &lt;0.70</a:t>
            </a:r>
            <a:endParaRPr lang="en-US" sz="680" dirty="0"/>
          </a:p>
        </p:txBody>
      </p:sp>
      <p:sp>
        <p:nvSpPr>
          <p:cNvPr id="192" name="Shape 190"/>
          <p:cNvSpPr/>
          <p:nvPr/>
        </p:nvSpPr>
        <p:spPr>
          <a:xfrm>
            <a:off x="6355080" y="2916936"/>
            <a:ext cx="0" cy="91440"/>
          </a:xfrm>
          <a:prstGeom prst="line">
            <a:avLst/>
          </a:prstGeom>
          <a:noFill/>
          <a:ln w="9525">
            <a:solidFill>
              <a:srgbClr val="05966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650992" y="3008376"/>
            <a:ext cx="1408176" cy="246888"/>
          </a:xfrm>
          <a:prstGeom prst="rect">
            <a:avLst/>
          </a:prstGeom>
          <a:solidFill>
            <a:srgbClr val="DCFCE7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669280" y="3054096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5" name="Text 193"/>
          <p:cNvSpPr/>
          <p:nvPr/>
        </p:nvSpPr>
        <p:spPr>
          <a:xfrm>
            <a:off x="5669280" y="30540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50" dirty="0"/>
          </a:p>
        </p:txBody>
      </p:sp>
      <p:sp>
        <p:nvSpPr>
          <p:cNvPr id="196" name="Text 194"/>
          <p:cNvSpPr/>
          <p:nvPr/>
        </p:nvSpPr>
        <p:spPr>
          <a:xfrm>
            <a:off x="5852160" y="3035808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capability-first architecture document</a:t>
            </a:r>
            <a:endParaRPr lang="en-US" sz="680" dirty="0"/>
          </a:p>
        </p:txBody>
      </p:sp>
      <p:sp>
        <p:nvSpPr>
          <p:cNvPr id="197" name="Shape 195"/>
          <p:cNvSpPr/>
          <p:nvPr/>
        </p:nvSpPr>
        <p:spPr>
          <a:xfrm>
            <a:off x="5650992" y="3291840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8" name="Text 196"/>
          <p:cNvSpPr/>
          <p:nvPr/>
        </p:nvSpPr>
        <p:spPr>
          <a:xfrm>
            <a:off x="5650992" y="3328416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</a:t>
            </a:r>
            <a:endParaRPr lang="en-US" sz="550" dirty="0"/>
          </a:p>
        </p:txBody>
      </p:sp>
      <p:sp>
        <p:nvSpPr>
          <p:cNvPr id="199" name="Text 197"/>
          <p:cNvSpPr/>
          <p:nvPr/>
        </p:nvSpPr>
        <p:spPr>
          <a:xfrm>
            <a:off x="5650992" y="345643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 business function catalogue (specdb)</a:t>
            </a:r>
            <a:endParaRPr lang="en-US" sz="680" dirty="0"/>
          </a:p>
        </p:txBody>
      </p:sp>
      <p:sp>
        <p:nvSpPr>
          <p:cNvPr id="200" name="Shape 198"/>
          <p:cNvSpPr/>
          <p:nvPr/>
        </p:nvSpPr>
        <p:spPr>
          <a:xfrm>
            <a:off x="5650992" y="3712464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1" name="Text 199"/>
          <p:cNvSpPr/>
          <p:nvPr/>
        </p:nvSpPr>
        <p:spPr>
          <a:xfrm>
            <a:off x="5650992" y="3749040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550" dirty="0"/>
          </a:p>
        </p:txBody>
      </p:sp>
      <p:sp>
        <p:nvSpPr>
          <p:cNvPr id="202" name="Text 200"/>
          <p:cNvSpPr/>
          <p:nvPr/>
        </p:nvSpPr>
        <p:spPr>
          <a:xfrm>
            <a:off x="5650992" y="38770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→ feeds PM Epic generation</a:t>
            </a:r>
            <a:endParaRPr lang="en-US" sz="680" dirty="0"/>
          </a:p>
        </p:txBody>
      </p:sp>
      <p:sp>
        <p:nvSpPr>
          <p:cNvPr id="203" name="Shape 201"/>
          <p:cNvSpPr/>
          <p:nvPr/>
        </p:nvSpPr>
        <p:spPr>
          <a:xfrm>
            <a:off x="5650992" y="4187952"/>
            <a:ext cx="1408176" cy="1463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4" name="Text 202"/>
          <p:cNvSpPr/>
          <p:nvPr/>
        </p:nvSpPr>
        <p:spPr>
          <a:xfrm>
            <a:off x="5650992" y="4224528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550" dirty="0"/>
          </a:p>
        </p:txBody>
      </p:sp>
      <p:sp>
        <p:nvSpPr>
          <p:cNvPr id="205" name="Text 203"/>
          <p:cNvSpPr/>
          <p:nvPr/>
        </p:nvSpPr>
        <p:spPr>
          <a:xfrm>
            <a:off x="5650992" y="43525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specdb-mcp</a:t>
            </a:r>
            <a:endParaRPr lang="en-US" sz="680" dirty="0"/>
          </a:p>
        </p:txBody>
      </p:sp>
      <p:sp>
        <p:nvSpPr>
          <p:cNvPr id="206" name="Shape 204"/>
          <p:cNvSpPr/>
          <p:nvPr/>
        </p:nvSpPr>
        <p:spPr>
          <a:xfrm>
            <a:off x="7187184" y="987552"/>
            <a:ext cx="1956816" cy="1313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4000"/>
              </a:srgbClr>
            </a:outerShdw>
          </a:effectLst>
        </p:spPr>
      </p:sp>
      <p:sp>
        <p:nvSpPr>
          <p:cNvPr id="207" name="Shape 205"/>
          <p:cNvSpPr/>
          <p:nvPr/>
        </p:nvSpPr>
        <p:spPr>
          <a:xfrm>
            <a:off x="7187184" y="987552"/>
            <a:ext cx="1956816" cy="2468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8" name="Text 206"/>
          <p:cNvSpPr/>
          <p:nvPr/>
        </p:nvSpPr>
        <p:spPr>
          <a:xfrm>
            <a:off x="7251192" y="1024128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7251192" y="125272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Code Generator</a:t>
            </a:r>
            <a:endParaRPr lang="en-US" sz="650" dirty="0"/>
          </a:p>
        </p:txBody>
      </p:sp>
      <p:sp>
        <p:nvSpPr>
          <p:cNvPr id="210" name="Shape 208"/>
          <p:cNvSpPr/>
          <p:nvPr/>
        </p:nvSpPr>
        <p:spPr>
          <a:xfrm>
            <a:off x="7251192" y="1399032"/>
            <a:ext cx="1828800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7251192" y="1417320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269480" y="1440180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3" name="Text 211"/>
          <p:cNvSpPr/>
          <p:nvPr/>
        </p:nvSpPr>
        <p:spPr>
          <a:xfrm>
            <a:off x="7269480" y="144018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7415784" y="143560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SM-enriched story spec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8165592" y="1581912"/>
            <a:ext cx="0" cy="50292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251192" y="1632204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269480" y="1655064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8" name="Text 216"/>
          <p:cNvSpPr/>
          <p:nvPr/>
        </p:nvSpPr>
        <p:spPr>
          <a:xfrm>
            <a:off x="7269480" y="165506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7415784" y="16504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Java/Python from spec layer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8165592" y="1796796"/>
            <a:ext cx="0" cy="50292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251192" y="1847088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269480" y="1869948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23" name="Text 221"/>
          <p:cNvSpPr/>
          <p:nvPr/>
        </p:nvSpPr>
        <p:spPr>
          <a:xfrm>
            <a:off x="7269480" y="186994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7415784" y="186537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 rules as TODO stubs</a:t>
            </a:r>
            <a:endParaRPr lang="en-US" sz="650" dirty="0"/>
          </a:p>
        </p:txBody>
      </p:sp>
      <p:sp>
        <p:nvSpPr>
          <p:cNvPr id="225" name="Shape 223"/>
          <p:cNvSpPr/>
          <p:nvPr/>
        </p:nvSpPr>
        <p:spPr>
          <a:xfrm>
            <a:off x="7251192" y="2048256"/>
            <a:ext cx="1828800" cy="1188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6" name="Text 224"/>
          <p:cNvSpPr/>
          <p:nvPr/>
        </p:nvSpPr>
        <p:spPr>
          <a:xfrm>
            <a:off x="7251192" y="2075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Clean target-language code per module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7187184" y="2365248"/>
            <a:ext cx="1956816" cy="1313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4000"/>
              </a:srgbClr>
            </a:outerShdw>
          </a:effectLst>
        </p:spPr>
      </p:sp>
      <p:sp>
        <p:nvSpPr>
          <p:cNvPr id="228" name="Shape 226"/>
          <p:cNvSpPr/>
          <p:nvPr/>
        </p:nvSpPr>
        <p:spPr>
          <a:xfrm>
            <a:off x="7187184" y="2365248"/>
            <a:ext cx="1956816" cy="2468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9" name="Text 227"/>
          <p:cNvSpPr/>
          <p:nvPr/>
        </p:nvSpPr>
        <p:spPr>
          <a:xfrm>
            <a:off x="7251192" y="240182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LUNG</a:t>
            </a:r>
            <a:endParaRPr lang="en-US" sz="950" dirty="0"/>
          </a:p>
        </p:txBody>
      </p:sp>
      <p:sp>
        <p:nvSpPr>
          <p:cNvPr id="230" name="Text 228"/>
          <p:cNvSpPr/>
          <p:nvPr/>
        </p:nvSpPr>
        <p:spPr>
          <a:xfrm>
            <a:off x="7251192" y="263042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Validator &amp; Sign-off</a:t>
            </a:r>
            <a:endParaRPr lang="en-US" sz="650" dirty="0"/>
          </a:p>
        </p:txBody>
      </p:sp>
      <p:sp>
        <p:nvSpPr>
          <p:cNvPr id="231" name="Shape 229"/>
          <p:cNvSpPr/>
          <p:nvPr/>
        </p:nvSpPr>
        <p:spPr>
          <a:xfrm>
            <a:off x="7251192" y="2776728"/>
            <a:ext cx="1828800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2" name="Shape 230"/>
          <p:cNvSpPr/>
          <p:nvPr/>
        </p:nvSpPr>
        <p:spPr>
          <a:xfrm>
            <a:off x="7251192" y="2795016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269480" y="2817876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4" name="Text 232"/>
          <p:cNvSpPr/>
          <p:nvPr/>
        </p:nvSpPr>
        <p:spPr>
          <a:xfrm>
            <a:off x="7269480" y="281787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7415784" y="281330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spec_rules for the module</a:t>
            </a:r>
            <a:endParaRPr lang="en-US" sz="650" dirty="0"/>
          </a:p>
        </p:txBody>
      </p:sp>
      <p:sp>
        <p:nvSpPr>
          <p:cNvPr id="236" name="Shape 234"/>
          <p:cNvSpPr/>
          <p:nvPr/>
        </p:nvSpPr>
        <p:spPr>
          <a:xfrm>
            <a:off x="8165592" y="2959608"/>
            <a:ext cx="0" cy="50292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251192" y="3009900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269480" y="3032760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9" name="Text 237"/>
          <p:cNvSpPr/>
          <p:nvPr/>
        </p:nvSpPr>
        <p:spPr>
          <a:xfrm>
            <a:off x="7269480" y="303276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7415784" y="30281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code vs business rules</a:t>
            </a:r>
            <a:endParaRPr lang="en-US" sz="650" dirty="0"/>
          </a:p>
        </p:txBody>
      </p:sp>
      <p:sp>
        <p:nvSpPr>
          <p:cNvPr id="241" name="Shape 239"/>
          <p:cNvSpPr/>
          <p:nvPr/>
        </p:nvSpPr>
        <p:spPr>
          <a:xfrm>
            <a:off x="8165592" y="3174492"/>
            <a:ext cx="0" cy="50292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251192" y="3224784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269480" y="3247644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44" name="Text 242"/>
          <p:cNvSpPr/>
          <p:nvPr/>
        </p:nvSpPr>
        <p:spPr>
          <a:xfrm>
            <a:off x="7269480" y="3247644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7415784" y="32430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High-conf=must-pass · Low=advisory</a:t>
            </a:r>
            <a:endParaRPr lang="en-US" sz="650" dirty="0"/>
          </a:p>
        </p:txBody>
      </p:sp>
      <p:sp>
        <p:nvSpPr>
          <p:cNvPr id="246" name="Shape 244"/>
          <p:cNvSpPr/>
          <p:nvPr/>
        </p:nvSpPr>
        <p:spPr>
          <a:xfrm>
            <a:off x="7251192" y="3425952"/>
            <a:ext cx="1828800" cy="1188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7" name="Text 245"/>
          <p:cNvSpPr/>
          <p:nvPr/>
        </p:nvSpPr>
        <p:spPr>
          <a:xfrm>
            <a:off x="7251192" y="3453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QA report + Epic sign-off in GitLab</a:t>
            </a:r>
            <a:endParaRPr lang="en-US" sz="650" dirty="0"/>
          </a:p>
        </p:txBody>
      </p:sp>
      <p:sp>
        <p:nvSpPr>
          <p:cNvPr id="248" name="Shape 246"/>
          <p:cNvSpPr/>
          <p:nvPr/>
        </p:nvSpPr>
        <p:spPr>
          <a:xfrm>
            <a:off x="7187184" y="3742944"/>
            <a:ext cx="1956816" cy="1313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4000"/>
              </a:srgbClr>
            </a:outerShdw>
          </a:effectLst>
        </p:spPr>
      </p:sp>
      <p:sp>
        <p:nvSpPr>
          <p:cNvPr id="249" name="Shape 247"/>
          <p:cNvSpPr/>
          <p:nvPr/>
        </p:nvSpPr>
        <p:spPr>
          <a:xfrm>
            <a:off x="7187184" y="3742944"/>
            <a:ext cx="1956816" cy="2468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0" name="Text 248"/>
          <p:cNvSpPr/>
          <p:nvPr/>
        </p:nvSpPr>
        <p:spPr>
          <a:xfrm>
            <a:off x="7251192" y="377952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TIGRESS</a:t>
            </a:r>
            <a:endParaRPr lang="en-US" sz="950" dirty="0"/>
          </a:p>
        </p:txBody>
      </p:sp>
      <p:sp>
        <p:nvSpPr>
          <p:cNvPr id="251" name="Text 249"/>
          <p:cNvSpPr/>
          <p:nvPr/>
        </p:nvSpPr>
        <p:spPr>
          <a:xfrm>
            <a:off x="7251192" y="4008120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</a:t>
            </a:r>
            <a:endParaRPr lang="en-US" sz="650" dirty="0"/>
          </a:p>
        </p:txBody>
      </p:sp>
      <p:sp>
        <p:nvSpPr>
          <p:cNvPr id="252" name="Shape 250"/>
          <p:cNvSpPr/>
          <p:nvPr/>
        </p:nvSpPr>
        <p:spPr>
          <a:xfrm>
            <a:off x="7251192" y="4154424"/>
            <a:ext cx="1828800" cy="128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3" name="Shape 251"/>
          <p:cNvSpPr/>
          <p:nvPr/>
        </p:nvSpPr>
        <p:spPr>
          <a:xfrm>
            <a:off x="7251192" y="4172712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269480" y="4195572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55" name="Text 253"/>
          <p:cNvSpPr/>
          <p:nvPr/>
        </p:nvSpPr>
        <p:spPr>
          <a:xfrm>
            <a:off x="7269480" y="4195572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7415784" y="419100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per capability · Issues per module</a:t>
            </a:r>
            <a:endParaRPr lang="en-US" sz="650" dirty="0"/>
          </a:p>
        </p:txBody>
      </p:sp>
      <p:sp>
        <p:nvSpPr>
          <p:cNvPr id="257" name="Shape 255"/>
          <p:cNvSpPr/>
          <p:nvPr/>
        </p:nvSpPr>
        <p:spPr>
          <a:xfrm>
            <a:off x="8165592" y="4337304"/>
            <a:ext cx="0" cy="50292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251192" y="4387596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269480" y="4410456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0" name="Text 258"/>
          <p:cNvSpPr/>
          <p:nvPr/>
        </p:nvSpPr>
        <p:spPr>
          <a:xfrm>
            <a:off x="7269480" y="441045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7415784" y="440588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milestones from migration order</a:t>
            </a:r>
            <a:endParaRPr lang="en-US" sz="650" dirty="0"/>
          </a:p>
        </p:txBody>
      </p:sp>
      <p:sp>
        <p:nvSpPr>
          <p:cNvPr id="262" name="Shape 260"/>
          <p:cNvSpPr/>
          <p:nvPr/>
        </p:nvSpPr>
        <p:spPr>
          <a:xfrm>
            <a:off x="8165592" y="4552188"/>
            <a:ext cx="0" cy="50292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251192" y="4602480"/>
            <a:ext cx="1828800" cy="164592"/>
          </a:xfrm>
          <a:prstGeom prst="rect">
            <a:avLst/>
          </a:prstGeom>
          <a:solidFill>
            <a:srgbClr val="EFF6FF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269480" y="4625340"/>
            <a:ext cx="118872" cy="118872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65" name="Text 263"/>
          <p:cNvSpPr/>
          <p:nvPr/>
        </p:nvSpPr>
        <p:spPr>
          <a:xfrm>
            <a:off x="7269480" y="462534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" dirty="0"/>
          </a:p>
        </p:txBody>
      </p:sp>
      <p:sp>
        <p:nvSpPr>
          <p:cNvPr id="266" name="Text 264"/>
          <p:cNvSpPr/>
          <p:nvPr/>
        </p:nvSpPr>
        <p:spPr>
          <a:xfrm>
            <a:off x="7415784" y="46207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README dashboard — auto-updated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251192" y="4803648"/>
            <a:ext cx="1828800" cy="1188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8" name="Text 266"/>
          <p:cNvSpPr/>
          <p:nvPr/>
        </p:nvSpPr>
        <p:spPr>
          <a:xfrm>
            <a:off x="7251192" y="4831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Sprint-ready GitLab project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Modernisation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56032" y="43891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 ·  AI-Assisted Discovery &amp; Understanding  ·  Analyst Gate at Every Stage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676656"/>
            <a:ext cx="3913632" cy="3913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65392" y="713232"/>
            <a:ext cx="2468880" cy="2468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3"/>
          <p:cNvSpPr/>
          <p:nvPr/>
        </p:nvSpPr>
        <p:spPr>
          <a:xfrm>
            <a:off x="6611112" y="7269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565392" y="969264"/>
            <a:ext cx="2468880" cy="214884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991210"/>
            <a:ext cx="170993" cy="170993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" name="Text 6"/>
          <p:cNvSpPr/>
          <p:nvPr/>
        </p:nvSpPr>
        <p:spPr>
          <a:xfrm>
            <a:off x="6592824" y="99121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784848" y="985723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yaml · init spec database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7799832" y="1188720"/>
            <a:ext cx="0" cy="9601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99248" y="11887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565392" y="1289304"/>
            <a:ext cx="2468880" cy="214884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92824" y="1311250"/>
            <a:ext cx="170993" cy="170993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6592824" y="131125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784848" y="1305763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Delta macro library files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799832" y="1508760"/>
            <a:ext cx="0" cy="9601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99248" y="150876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565392" y="1609344"/>
            <a:ext cx="2468880" cy="214884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92824" y="1631290"/>
            <a:ext cx="170993" cy="170993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8"/>
          <p:cNvSpPr/>
          <p:nvPr/>
        </p:nvSpPr>
        <p:spPr>
          <a:xfrm>
            <a:off x="6592824" y="163129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784848" y="1625803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COBOL fields via glossary file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565392" y="1906524"/>
            <a:ext cx="2468880" cy="2468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6611112" y="19202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Discover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565392" y="2162556"/>
            <a:ext cx="2468880" cy="21488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92824" y="2184502"/>
            <a:ext cx="170993" cy="17099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4"/>
          <p:cNvSpPr/>
          <p:nvPr/>
        </p:nvSpPr>
        <p:spPr>
          <a:xfrm>
            <a:off x="6592824" y="218450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784848" y="2179015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Viper: parse modules, call graphs, complexity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799832" y="2382012"/>
            <a:ext cx="0" cy="9601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99248" y="238201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565392" y="2482596"/>
            <a:ext cx="2468880" cy="21488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92824" y="2504542"/>
            <a:ext cx="170993" cy="17099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0"/>
          <p:cNvSpPr/>
          <p:nvPr/>
        </p:nvSpPr>
        <p:spPr>
          <a:xfrm>
            <a:off x="6592824" y="250454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6784848" y="2499055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 parser: job boundaries + dataset flows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799832" y="2702052"/>
            <a:ext cx="0" cy="9601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99248" y="27020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6565392" y="2802636"/>
            <a:ext cx="2468880" cy="21488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92824" y="2824582"/>
            <a:ext cx="170993" cy="17099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6"/>
          <p:cNvSpPr/>
          <p:nvPr/>
        </p:nvSpPr>
        <p:spPr>
          <a:xfrm>
            <a:off x="6592824" y="282458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6784848" y="2819095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Crane: cross-module dependency graph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799832" y="3022092"/>
            <a:ext cx="0" cy="9601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99248" y="302209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6565392" y="3122676"/>
            <a:ext cx="2468880" cy="21488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92824" y="3144622"/>
            <a:ext cx="170993" cy="17099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2"/>
          <p:cNvSpPr/>
          <p:nvPr/>
        </p:nvSpPr>
        <p:spPr>
          <a:xfrm>
            <a:off x="6592824" y="314462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6784848" y="3139135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order via topological sort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6565392" y="3419856"/>
            <a:ext cx="2468880" cy="2468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5"/>
          <p:cNvSpPr/>
          <p:nvPr/>
        </p:nvSpPr>
        <p:spPr>
          <a:xfrm>
            <a:off x="6611112" y="34335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Understand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565392" y="3675888"/>
            <a:ext cx="2468880" cy="21488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92824" y="3697834"/>
            <a:ext cx="170993" cy="170993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1" name="Text 48"/>
          <p:cNvSpPr/>
          <p:nvPr/>
        </p:nvSpPr>
        <p:spPr>
          <a:xfrm>
            <a:off x="6592824" y="3697834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6784848" y="3692347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Shifu: extract business rules per paragraph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7799832" y="3895344"/>
            <a:ext cx="0" cy="9601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99248" y="38953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6565392" y="3995928"/>
            <a:ext cx="2468880" cy="21488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592824" y="4017874"/>
            <a:ext cx="170993" cy="170993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7" name="Text 54"/>
          <p:cNvSpPr/>
          <p:nvPr/>
        </p:nvSpPr>
        <p:spPr>
          <a:xfrm>
            <a:off x="6592824" y="4017874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6784848" y="4012387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Delta macros inline into rules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7799832" y="4215384"/>
            <a:ext cx="0" cy="9601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699248" y="42153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6565392" y="4315968"/>
            <a:ext cx="2468880" cy="21488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592824" y="4337914"/>
            <a:ext cx="170993" cy="170993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3" name="Text 60"/>
          <p:cNvSpPr/>
          <p:nvPr/>
        </p:nvSpPr>
        <p:spPr>
          <a:xfrm>
            <a:off x="6592824" y="4337914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6784848" y="4332427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modules into business capabilities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7799832" y="4535424"/>
            <a:ext cx="0" cy="96012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699248" y="453542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6565392" y="4636008"/>
            <a:ext cx="2468880" cy="21488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592824" y="4657954"/>
            <a:ext cx="170993" cy="170993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9" name="Text 66"/>
          <p:cNvSpPr/>
          <p:nvPr/>
        </p:nvSpPr>
        <p:spPr>
          <a:xfrm>
            <a:off x="6592824" y="4657954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6784848" y="4652467"/>
            <a:ext cx="2221992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Agent [AQ]: NL queries on logic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109728" y="713232"/>
            <a:ext cx="2395728" cy="2468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2" name="Text 69"/>
          <p:cNvSpPr/>
          <p:nvPr/>
        </p:nvSpPr>
        <p:spPr>
          <a:xfrm>
            <a:off x="155448" y="726948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Deliver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109728" y="969264"/>
            <a:ext cx="2395728" cy="214884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37160" y="991210"/>
            <a:ext cx="170993" cy="170993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5" name="Text 72"/>
          <p:cNvSpPr/>
          <p:nvPr/>
        </p:nvSpPr>
        <p:spPr>
          <a:xfrm>
            <a:off x="137160" y="99121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329184" y="985723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Po: generate code from spec layer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1307592" y="1188720"/>
            <a:ext cx="0" cy="96012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207008" y="11887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109728" y="1289304"/>
            <a:ext cx="2395728" cy="214884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37160" y="1311250"/>
            <a:ext cx="170993" cy="170993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1" name="Text 78"/>
          <p:cNvSpPr/>
          <p:nvPr/>
        </p:nvSpPr>
        <p:spPr>
          <a:xfrm>
            <a:off x="137160" y="131125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329184" y="1305763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Lung: QA vs spec_rules (conf-weighted)</a:t>
            </a:r>
            <a:endParaRPr lang="en-US" sz="700" dirty="0"/>
          </a:p>
        </p:txBody>
      </p:sp>
      <p:sp>
        <p:nvSpPr>
          <p:cNvPr id="83" name="Shape 80"/>
          <p:cNvSpPr/>
          <p:nvPr/>
        </p:nvSpPr>
        <p:spPr>
          <a:xfrm>
            <a:off x="1307592" y="1508760"/>
            <a:ext cx="0" cy="96012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207008" y="150876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85" name="Shape 82"/>
          <p:cNvSpPr/>
          <p:nvPr/>
        </p:nvSpPr>
        <p:spPr>
          <a:xfrm>
            <a:off x="109728" y="1609344"/>
            <a:ext cx="2395728" cy="214884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37160" y="1631290"/>
            <a:ext cx="170993" cy="170993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87" name="Text 84"/>
          <p:cNvSpPr/>
          <p:nvPr/>
        </p:nvSpPr>
        <p:spPr>
          <a:xfrm>
            <a:off x="137160" y="163129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88" name="Text 85"/>
          <p:cNvSpPr/>
          <p:nvPr/>
        </p:nvSpPr>
        <p:spPr>
          <a:xfrm>
            <a:off x="329184" y="1625803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Tigress: GitLab Epics + sprint milestones</a:t>
            </a:r>
            <a:endParaRPr lang="en-US" sz="700" dirty="0"/>
          </a:p>
        </p:txBody>
      </p:sp>
      <p:sp>
        <p:nvSpPr>
          <p:cNvPr id="89" name="Shape 86"/>
          <p:cNvSpPr/>
          <p:nvPr/>
        </p:nvSpPr>
        <p:spPr>
          <a:xfrm>
            <a:off x="1307592" y="1828800"/>
            <a:ext cx="0" cy="96012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1207008" y="182880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109728" y="1929384"/>
            <a:ext cx="2395728" cy="214884"/>
          </a:xfrm>
          <a:prstGeom prst="rect">
            <a:avLst/>
          </a:prstGeom>
          <a:solidFill>
            <a:srgbClr val="EFF6FF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37160" y="1951330"/>
            <a:ext cx="170993" cy="170993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3" name="Text 90"/>
          <p:cNvSpPr/>
          <p:nvPr/>
        </p:nvSpPr>
        <p:spPr>
          <a:xfrm>
            <a:off x="137160" y="1951330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329184" y="1945843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closes Epic — all rules verified</a:t>
            </a:r>
            <a:endParaRPr lang="en-US" sz="700" dirty="0"/>
          </a:p>
        </p:txBody>
      </p:sp>
      <p:sp>
        <p:nvSpPr>
          <p:cNvPr id="95" name="Shape 92"/>
          <p:cNvSpPr/>
          <p:nvPr/>
        </p:nvSpPr>
        <p:spPr>
          <a:xfrm>
            <a:off x="109728" y="2226564"/>
            <a:ext cx="2395728" cy="2468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6" name="Text 93"/>
          <p:cNvSpPr/>
          <p:nvPr/>
        </p:nvSpPr>
        <p:spPr>
          <a:xfrm>
            <a:off x="155448" y="224028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109728" y="2482596"/>
            <a:ext cx="2395728" cy="214884"/>
          </a:xfrm>
          <a:prstGeom prst="rect">
            <a:avLst/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37160" y="2504542"/>
            <a:ext cx="170993" cy="170993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9" name="Text 96"/>
          <p:cNvSpPr/>
          <p:nvPr/>
        </p:nvSpPr>
        <p:spPr>
          <a:xfrm>
            <a:off x="137160" y="250454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00" name="Text 97"/>
          <p:cNvSpPr/>
          <p:nvPr/>
        </p:nvSpPr>
        <p:spPr>
          <a:xfrm>
            <a:off x="329184" y="2499055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Oogway: capability-first target architecture</a:t>
            </a:r>
            <a:endParaRPr lang="en-US" sz="700" dirty="0"/>
          </a:p>
        </p:txBody>
      </p:sp>
      <p:sp>
        <p:nvSpPr>
          <p:cNvPr id="101" name="Shape 98"/>
          <p:cNvSpPr/>
          <p:nvPr/>
        </p:nvSpPr>
        <p:spPr>
          <a:xfrm>
            <a:off x="1307592" y="2702052"/>
            <a:ext cx="0" cy="9601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207008" y="27020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103" name="Shape 100"/>
          <p:cNvSpPr/>
          <p:nvPr/>
        </p:nvSpPr>
        <p:spPr>
          <a:xfrm>
            <a:off x="109728" y="2802636"/>
            <a:ext cx="2395728" cy="214884"/>
          </a:xfrm>
          <a:prstGeom prst="rect">
            <a:avLst/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37160" y="2824582"/>
            <a:ext cx="170993" cy="170993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5" name="Text 102"/>
          <p:cNvSpPr/>
          <p:nvPr/>
        </p:nvSpPr>
        <p:spPr>
          <a:xfrm>
            <a:off x="137160" y="282458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06" name="Text 103"/>
          <p:cNvSpPr/>
          <p:nvPr/>
        </p:nvSpPr>
        <p:spPr>
          <a:xfrm>
            <a:off x="329184" y="2819095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boundaries + API contracts</a:t>
            </a:r>
            <a:endParaRPr lang="en-US" sz="700" dirty="0"/>
          </a:p>
        </p:txBody>
      </p:sp>
      <p:sp>
        <p:nvSpPr>
          <p:cNvPr id="107" name="Shape 104"/>
          <p:cNvSpPr/>
          <p:nvPr/>
        </p:nvSpPr>
        <p:spPr>
          <a:xfrm>
            <a:off x="1307592" y="3022092"/>
            <a:ext cx="0" cy="9601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207008" y="302209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109728" y="3122676"/>
            <a:ext cx="2395728" cy="214884"/>
          </a:xfrm>
          <a:prstGeom prst="rect">
            <a:avLst/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37160" y="3144622"/>
            <a:ext cx="170993" cy="170993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1" name="Text 108"/>
          <p:cNvSpPr/>
          <p:nvPr/>
        </p:nvSpPr>
        <p:spPr>
          <a:xfrm>
            <a:off x="137160" y="314462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12" name="Text 109"/>
          <p:cNvSpPr/>
          <p:nvPr/>
        </p:nvSpPr>
        <p:spPr>
          <a:xfrm>
            <a:off x="329184" y="3139135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Agent: BMAD Epics per business function</a:t>
            </a:r>
            <a:endParaRPr lang="en-US" sz="700" dirty="0"/>
          </a:p>
        </p:txBody>
      </p:sp>
      <p:sp>
        <p:nvSpPr>
          <p:cNvPr id="113" name="Shape 110"/>
          <p:cNvSpPr/>
          <p:nvPr/>
        </p:nvSpPr>
        <p:spPr>
          <a:xfrm>
            <a:off x="1307592" y="3342132"/>
            <a:ext cx="0" cy="9601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1207008" y="33421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700" dirty="0"/>
          </a:p>
        </p:txBody>
      </p:sp>
      <p:sp>
        <p:nvSpPr>
          <p:cNvPr id="115" name="Shape 112"/>
          <p:cNvSpPr/>
          <p:nvPr/>
        </p:nvSpPr>
        <p:spPr>
          <a:xfrm>
            <a:off x="109728" y="3442716"/>
            <a:ext cx="2395728" cy="214884"/>
          </a:xfrm>
          <a:prstGeom prst="rect">
            <a:avLst/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37160" y="3464662"/>
            <a:ext cx="170993" cy="170993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7" name="Text 114"/>
          <p:cNvSpPr/>
          <p:nvPr/>
        </p:nvSpPr>
        <p:spPr>
          <a:xfrm>
            <a:off x="137160" y="3464662"/>
            <a:ext cx="1709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118" name="Text 115"/>
          <p:cNvSpPr/>
          <p:nvPr/>
        </p:nvSpPr>
        <p:spPr>
          <a:xfrm>
            <a:off x="329184" y="3459175"/>
            <a:ext cx="2148840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SM: enrich stories with spec layer context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457200" y="4919472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 first — convert later" is the architecture, not a team norm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2026-03-04T07:54:27Z</dcterms:created>
  <dcterms:modified xsi:type="dcterms:W3CDTF">2026-03-04T07:54:27Z</dcterms:modified>
</cp:coreProperties>
</file>